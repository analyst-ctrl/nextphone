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56032"/>
          </a:xfrm>
          <a:prstGeom prst="roundRect">
            <a:avLst>
              <a:gd name="adj" fmla="val 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601968"/>
            <a:ext cx="12191695" cy="256032"/>
          </a:xfrm>
          <a:prstGeom prst="roundRect">
            <a:avLst>
              <a:gd name="adj" fmla="val 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800" b="1">
                <a:solidFill>
                  <a:srgbClr val="1F4E79"/>
                </a:solidFill>
              </a:rPr>
              <a:t>Consolidado de Reportes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2E75B6"/>
                </a:solidFill>
              </a:rPr>
              <a:t>Matriz de reportes que se envían · Mayo – Julio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160520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</a:rPr>
              <a:t>Gerencia de Operaciones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</a:rPr>
              <a:t>Resumen ejecutivo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32688"/>
            <a:ext cx="2194560" cy="50292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</a:rPr>
              <a:t>Qué se entrega, con qué frecuencia y quién lo hace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1783080" cy="150876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1F4E79"/>
                </a:solidFill>
              </a:rPr>
              <a:t>10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Reportes en la matriz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0008" y="1600200"/>
            <a:ext cx="1783080" cy="150876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1F4E79"/>
                </a:solidFill>
              </a:rPr>
              <a:t>5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Categorías de reportes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2816" y="1600200"/>
            <a:ext cx="1783080" cy="150876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1F4E79"/>
                </a:solidFill>
              </a:rPr>
              <a:t>9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Diarios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5623" y="1600200"/>
            <a:ext cx="1783080" cy="150876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1F4E79"/>
                </a:solidFill>
              </a:rPr>
              <a:t>1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Bisemanal (Mar/Vie)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1600200"/>
            <a:ext cx="1783080" cy="150876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1F4E79"/>
                </a:solidFill>
              </a:rPr>
              <a:t>3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Responsables / equipos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1600200"/>
            <a:ext cx="1783080" cy="150876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1F4E79"/>
                </a:solidFill>
              </a:rPr>
              <a:t>20:00–22:00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Horario pico de envío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111556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</a:rPr>
              <a:t>¿Qué cubre?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77639"/>
            <a:ext cx="11064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•  Cobros y Pagos: promesas de pago y reporte de cobros (2x semana).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06824"/>
            <a:ext cx="11064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•  Sinergia y Renovación: seguimiento Sinergia, P2P y renovaciones durante toda la jornada.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36008"/>
            <a:ext cx="11064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•  Operaciones SOHO: reporte de llamadas diario y mensual.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65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•  Ventas / Cierre: cierre de ventas Dataphone al final del día.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94376"/>
            <a:ext cx="11064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•  Monitoreo/Otros: Sharep, balance del día anterior, asesores fuera de cumplimiento y ranking del día previo (bloque nocturno 20:00–22:00).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23560"/>
            <a:ext cx="11064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52744"/>
            <a:ext cx="11064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</a:rPr>
              <a:t>Fuente: matriz “reportes que se mandan.xlsx” (Consolidado Mayo – Julio 2026).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Gerencia de Operaciones · Informe de entregables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</a:rPr>
              <a:t>Matriz de reportes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32688"/>
            <a:ext cx="2194560" cy="50292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</a:rPr>
              <a:t>Consolidado de Reportes (Mayo – Julio 2026) · 10 reportes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600200"/>
          <a:ext cx="11384280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3383280"/>
                <a:gridCol w="1600200"/>
                <a:gridCol w="1737360"/>
                <a:gridCol w="237744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Categoría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Nombre del Reporte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Frecuencia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Hora aprox.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Responsable de Envío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</a:tr>
              <a:tr h="402336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Cobros y Pagos</a:t>
                      </a:r>
                    </a:p>
                  </a:txBody>
                  <a:tcPr marL="73152" marR="73152" marT="18288" marB="18288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</a:rPr>
                        <a:t>Promesas de Pago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Diario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09:00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Leonardo Sanabria</a:t>
                      </a:r>
                    </a:p>
                  </a:txBody>
                  <a:tcPr marL="73152" marR="73152" marT="18288" marB="18288" anchor="ctr"/>
                </a:tc>
              </a:tr>
              <a:tr h="402336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</a:rPr>
                        <a:t>Reporte de Cobros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2x Semana (Mar/Vie)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15:00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Edgar S. Centella / Luis Figueroa</a:t>
                      </a:r>
                    </a:p>
                  </a:txBody>
                  <a:tcPr marL="73152" marR="73152" marT="18288" marB="18288" anchor="ctr"/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Sinergia y Renovación</a:t>
                      </a:r>
                    </a:p>
                  </a:txBody>
                  <a:tcPr marL="73152" marR="73152" marT="18288" marB="18288" anchor="ctr">
                    <a:solidFill>
                      <a:srgbClr val="A9D1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</a:rPr>
                        <a:t>Sinergia, P2P y Renovación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Diario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Toda la jornada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Raziel Nogal / Rosa Martínez</a:t>
                      </a:r>
                    </a:p>
                  </a:txBody>
                  <a:tcPr marL="73152" marR="73152" marT="18288" marB="18288" anchor="ctr"/>
                </a:tc>
              </a:tr>
              <a:tr h="402336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Operaciones SOHO</a:t>
                      </a:r>
                    </a:p>
                  </a:txBody>
                  <a:tcPr marL="73152" marR="73152" marT="18288" marB="18288" anchor="ctr">
                    <a:solidFill>
                      <a:srgbClr val="9DC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</a:rPr>
                        <a:t>Reporte Llamadas (Diario)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Diario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12:00 - 13:00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Leonardo Sanabria</a:t>
                      </a:r>
                    </a:p>
                  </a:txBody>
                  <a:tcPr marL="73152" marR="73152" marT="18288" marB="18288" anchor="ctr"/>
                </a:tc>
              </a:tr>
              <a:tr h="402336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</a:rPr>
                        <a:t>Reporte Llamadas (Mensual)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Diario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09:00 - 10:00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Leonardo Sanabria</a:t>
                      </a:r>
                    </a:p>
                  </a:txBody>
                  <a:tcPr marL="73152" marR="73152" marT="18288" marB="18288" anchor="ctr"/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Ventas / Cierre</a:t>
                      </a:r>
                    </a:p>
                  </a:txBody>
                  <a:tcPr marL="73152" marR="73152" marT="18288" marB="18288" anchor="ctr">
                    <a:solidFill>
                      <a:srgbClr val="FFE6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</a:rPr>
                        <a:t>Cierre Ventas Dataphone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Diario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18:00 - 19:00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Leonardo Sanabria</a:t>
                      </a:r>
                    </a:p>
                  </a:txBody>
                  <a:tcPr marL="73152" marR="73152" marT="18288" marB="18288" anchor="ctr"/>
                </a:tc>
              </a:tr>
              <a:tr h="402336">
                <a:tc row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Monitoreo/Otros</a:t>
                      </a:r>
                    </a:p>
                  </a:txBody>
                  <a:tcPr marL="73152" marR="73152" marT="18288" marB="18288" anchor="ctr">
                    <a:solidFill>
                      <a:srgbClr val="C9A0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</a:rPr>
                        <a:t>Sharep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Diario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Antes de 09:00 AM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Raziel Nogal</a:t>
                      </a:r>
                    </a:p>
                  </a:txBody>
                  <a:tcPr marL="73152" marR="73152" marT="18288" marB="18288" anchor="ctr"/>
                </a:tc>
              </a:tr>
              <a:tr h="402336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</a:rPr>
                        <a:t>Balance día anterior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Diario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20:00 - 22:00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Leonardo Sanabria</a:t>
                      </a:r>
                    </a:p>
                  </a:txBody>
                  <a:tcPr marL="73152" marR="73152" marT="18288" marB="18288" anchor="ctr"/>
                </a:tc>
              </a:tr>
              <a:tr h="402336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</a:rPr>
                        <a:t>Asesores Fuera Cumplimiento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Diario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20:00 - 22:00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Leonardo Sanabria</a:t>
                      </a:r>
                    </a:p>
                  </a:txBody>
                  <a:tcPr marL="73152" marR="73152" marT="18288" marB="18288" anchor="ctr"/>
                </a:tc>
              </a:tr>
              <a:tr h="402336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</a:rPr>
                        <a:t>Ranking día previo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Diario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20:00 - 22:00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Leonardo Sanabria</a:t>
                      </a:r>
                    </a:p>
                  </a:txBody>
                  <a:tcPr marL="73152" marR="73152" marT="18288" marB="18288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Gerencia de Operaciones · Informe de entregables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</a:rPr>
              <a:t>Peso de tareas por responsable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32688"/>
            <a:ext cx="2194560" cy="50292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</a:rPr>
              <a:t>Qué hace cada uno de los chicos y cuánto pesa en la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943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Reportes por responsable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31089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Leonardo Sanabria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2075688"/>
            <a:ext cx="5669280" cy="27432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72600" y="2020824"/>
            <a:ext cx="10972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7 (70%)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24328"/>
            <a:ext cx="31089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Raziel Nogal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642616"/>
            <a:ext cx="1619794" cy="274320"/>
          </a:xfrm>
          <a:prstGeom prst="roundRect">
            <a:avLst>
              <a:gd name="adj" fmla="val 25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3114" y="2587752"/>
            <a:ext cx="10972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2 (20%)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91256"/>
            <a:ext cx="31089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Edgar S. Centella / Luis Figueroa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3209544"/>
            <a:ext cx="809897" cy="274320"/>
          </a:xfrm>
          <a:prstGeom prst="roundRect">
            <a:avLst>
              <a:gd name="adj" fmla="val 25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3217" y="3154680"/>
            <a:ext cx="10972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1 (10%)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95344"/>
            <a:ext cx="60350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</a:rPr>
              <a:t>10 reportes en total · 9 de 10 se envían a diario.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600200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Reportes a cargo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205740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/>
          <a:lstStyle/>
          <a:p>
            <a:pPr algn="ctr"/>
            <a:r>
              <a:rPr sz="1300" b="1">
                <a:solidFill>
                  <a:srgbClr val="1F4E79"/>
                </a:solidFill>
              </a:rPr>
              <a:t>Leonardo Sanabria  ·  7 reportes</a:t>
            </a:r>
          </a:p>
          <a:p>
            <a:r>
              <a:rPr sz="1050">
                <a:solidFill>
                  <a:srgbClr val="262626"/>
                </a:solidFill>
              </a:rPr>
              <a:t>Promesas de Pago · Reporte Llamadas (diario y mensual) · Cierre Ventas Dataphone · Balance día anterior · Asesores Fuera Cumplimiento · Ranking día previo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356616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/>
          <a:lstStyle/>
          <a:p>
            <a:pPr algn="ctr"/>
            <a:r>
              <a:rPr sz="1300" b="1">
                <a:solidFill>
                  <a:srgbClr val="548235"/>
                </a:solidFill>
              </a:rPr>
              <a:t>Raziel Nogal  ·  2 reportes</a:t>
            </a:r>
          </a:p>
          <a:p>
            <a:r>
              <a:rPr sz="1050">
                <a:solidFill>
                  <a:srgbClr val="262626"/>
                </a:solidFill>
              </a:rPr>
              <a:t>Sharep · Sinergia, P2P y Renovación (con Rosa Martínez)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507492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/>
          <a:lstStyle/>
          <a:p>
            <a:pPr algn="ctr"/>
            <a:r>
              <a:rPr sz="1300" b="1">
                <a:solidFill>
                  <a:srgbClr val="BF8F00"/>
                </a:solidFill>
              </a:rPr>
              <a:t>Edgar S. Centella / Luis Figueroa  ·  1 reporte</a:t>
            </a:r>
          </a:p>
          <a:p>
            <a:r>
              <a:rPr sz="1050">
                <a:solidFill>
                  <a:srgbClr val="262626"/>
                </a:solidFill>
              </a:rPr>
              <a:t>Reporte de Cobros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Gerencia de Operaciones · Informe de entregables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</a:rPr>
              <a:t>Distribución de reportes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32688"/>
            <a:ext cx="2194560" cy="50292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</a:rPr>
              <a:t>Por categoría y por frecuencia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943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Por categoría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Monitoreo/Otros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121408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C9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79" y="2066543"/>
            <a:ext cx="8229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Cobros y Pagos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688336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9" y="2633472"/>
            <a:ext cx="8229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36976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Operaciones SOHO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255264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3200400"/>
            <a:ext cx="8229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03904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Ventas / Cierre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822191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3767328"/>
            <a:ext cx="8229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</a:rPr>
              <a:t>Sinergia y Renovación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438912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A9D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4334256"/>
            <a:ext cx="8229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60020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Por frecuencia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103120"/>
            <a:ext cx="4389120" cy="109728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3200" b="1">
                <a:solidFill>
                  <a:srgbClr val="2E75B6"/>
                </a:solidFill>
              </a:rPr>
              <a:t>9</a:t>
            </a:r>
          </a:p>
          <a:p>
            <a:pPr algn="ctr"/>
            <a:r>
              <a:rPr sz="1200">
                <a:solidFill>
                  <a:srgbClr val="262626"/>
                </a:solidFill>
              </a:rPr>
              <a:t>Diarios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383279"/>
            <a:ext cx="4389120" cy="109728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3200" b="1">
                <a:solidFill>
                  <a:srgbClr val="BF8F00"/>
                </a:solidFill>
              </a:rPr>
              <a:t>1</a:t>
            </a:r>
          </a:p>
          <a:p>
            <a:pPr algn="ctr"/>
            <a:r>
              <a:rPr sz="1200">
                <a:solidFill>
                  <a:srgbClr val="262626"/>
                </a:solidFill>
              </a:rPr>
              <a:t>Bisemanales (Mar/Vie)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800600"/>
            <a:ext cx="43891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</a:rPr>
              <a:t>Horario pico de envío: 20:00 – 22:00
(3 reportes nocturnos: balance, cumplimiento y ranking)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</a:rPr>
              <a:t>Gerencia de Operaciones · Informe de entregables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56032"/>
          </a:xfrm>
          <a:prstGeom prst="roundRect">
            <a:avLst>
              <a:gd name="adj" fmla="val 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601968"/>
            <a:ext cx="12191695" cy="256032"/>
          </a:xfrm>
          <a:prstGeom prst="roundRect">
            <a:avLst>
              <a:gd name="adj" fmla="val 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4800" b="1">
                <a:solidFill>
                  <a:srgbClr val="1F4E79"/>
                </a:solidFill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10 reportes · 9 diarios · 3 responsables · mayor carga operativa: Leonardo Sanabria (7 reportes)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