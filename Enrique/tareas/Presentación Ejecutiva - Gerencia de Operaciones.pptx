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4" y="3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46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7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3.png"/><Relationship Id="rId7" Type="http://schemas.openxmlformats.org/officeDocument/2006/relationships/image" Target="../media/image4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8.png"/><Relationship Id="rId7" Type="http://schemas.openxmlformats.org/officeDocument/2006/relationships/image" Target="../media/image4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3.png"/><Relationship Id="rId7" Type="http://schemas.openxmlformats.org/officeDocument/2006/relationships/image" Target="../media/image4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65736"/>
            <a:ext cx="110490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039838"/>
            <a:ext cx="161925" cy="133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1011"/>
            <a:ext cx="3000375" cy="16192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Innovatek | Next Phone | Ventas &amp; Gestiones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48850" y="4761011"/>
            <a:ext cx="1771650" cy="1619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Informe de Gestión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80061"/>
            <a:ext cx="104775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850" y="4780061"/>
            <a:ext cx="1143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935063"/>
            <a:ext cx="2867025" cy="333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2506563"/>
            <a:ext cx="7370921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sz="4350" b="1" i="0" u="none">
                <a:solidFill>
                  <a:srgbClr val="FFFFFF"/>
                </a:solidFill>
                <a:latin typeface="Poppins"/>
              </a:rPr>
              <a:t>Gerencia de Operaciones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284636"/>
            <a:ext cx="7620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Presentación Ejecutiva — Modelo Operativo, Gestión de Procesos, Calidad, Capacitación e Infraestructura Tecnológica.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35646"/>
            <a:ext cx="3524250" cy="18838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835646"/>
            <a:ext cx="3524250" cy="18838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1835646"/>
            <a:ext cx="3524250" cy="18838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57637"/>
            <a:ext cx="3524250" cy="188386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3875" y="3957637"/>
            <a:ext cx="3524250" cy="188386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0" y="3957637"/>
            <a:ext cx="3524250" cy="188386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5075" y="528637"/>
            <a:ext cx="14954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7725" y="2711946"/>
            <a:ext cx="29718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Entender y guiar: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Diseñar, documentar y optimizar los flujos operativos estándar.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2711946"/>
            <a:ext cx="29718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Apoyar en estandarizar: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Formación continua e inducción para maximizar el desempeño.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475" y="2711946"/>
            <a:ext cx="29718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Auditar y mejorar: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Auditoría, retroalimentación oportuna e identificación de riesgos.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833937"/>
            <a:ext cx="29718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Info para accionar: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Entrega de reportes e inteligencia de datos clave para decisiones.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4833937"/>
            <a:ext cx="29718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Gestión en Tiempo Real: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Monitoreo intradía, inducción, culturización y control continuo.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475" y="4833937"/>
            <a:ext cx="29718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Prevención e infraestructura: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Mantenimiento, conectividad y soporte tecnológico comercial.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111871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47800" y="2197596"/>
            <a:ext cx="93011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Procesos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100" y="2111871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0175" y="2197596"/>
            <a:ext cx="14101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Capacitación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2475" y="2111871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72550" y="2197596"/>
            <a:ext cx="8201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Calidad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25" y="4233862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47800" y="4319587"/>
            <a:ext cx="78009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Análisis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0100" y="4233862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10175" y="4319587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GTR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72475" y="4233862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72550" y="4319587"/>
            <a:ext cx="10501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IT Support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787" y="2245221"/>
            <a:ext cx="21907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19637" y="2245221"/>
            <a:ext cx="238125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05825" y="2245221"/>
            <a:ext cx="19050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1075" y="4367212"/>
            <a:ext cx="1905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43450" y="4367212"/>
            <a:ext cx="19050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82012" y="4367212"/>
            <a:ext cx="238125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Estructura de la Gerencia de Operaciones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4134"/>
            <a:ext cx="5381625" cy="29487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56482"/>
            <a:ext cx="5381625" cy="1194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3241327"/>
            <a:ext cx="5381625" cy="1194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626173"/>
            <a:ext cx="5381625" cy="11943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0725" y="528637"/>
            <a:ext cx="20097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0862" y="2697509"/>
            <a:ext cx="3429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7003" y="3221384"/>
            <a:ext cx="4950618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2400" b="0" i="0" u="none">
                <a:solidFill>
                  <a:srgbClr val="FFFFFF"/>
                </a:solidFill>
                <a:latin typeface="Poppins SemiBold"/>
              </a:rPr>
              <a:t>"Lo que no se mide, no se controla, ni se mejora"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156620"/>
            <a:ext cx="47148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BAE6FD"/>
                </a:solidFill>
                <a:latin typeface="Inter"/>
              </a:rPr>
              <a:t>Fundamento clave para la toma de decisiones y el crecimiento sostenible en todas nuestras unidades de negocio.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2153542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3538388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4923234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6550" y="2286892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53275" y="2132707"/>
            <a:ext cx="412051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Apoyo Prioritario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3275" y="2418457"/>
            <a:ext cx="392430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Atención técnica rápida para garantizar continuidad operativa.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2262" y="3671738"/>
            <a:ext cx="2190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53275" y="3517552"/>
            <a:ext cx="429053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Operaciones Comerciales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3275" y="3803302"/>
            <a:ext cx="40862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Alineación directa entre canales presenciales (D2D) y Call Center.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6075" y="5056584"/>
            <a:ext cx="17145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53275" y="4902398"/>
            <a:ext cx="403050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Gestión Oportuna (GTR)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3275" y="5188148"/>
            <a:ext cx="383857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Respuesta ágil ante variaciones de tráfico y métricas intradía.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Enfoque Estratégico y Regla de Oro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4132"/>
            <a:ext cx="5381625" cy="34688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04132"/>
            <a:ext cx="5381625" cy="34688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475" y="528637"/>
            <a:ext cx="172402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2980432"/>
            <a:ext cx="48291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Sistema centralizado para solicitudes de soporte operativo y tecnológico: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980432"/>
            <a:ext cx="48291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Compromiso de respuesta técnica y seguimiento: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380357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7800" y="2466082"/>
            <a:ext cx="289036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Registro Unificado de Casos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610867"/>
            <a:ext cx="4524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Paso 1: Área Solicitante: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Identificación completa, correo institucional y sede.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172842"/>
            <a:ext cx="4524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Paso 2: Detalles del Ticket: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Categorización clara del requerimiento e indicación de prioridad.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734817"/>
            <a:ext cx="4524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Transparencia: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Código de seguimiento único generado de manera inmediata.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2380357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15175" y="2466082"/>
            <a:ext cx="30203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Retomar y Normalizar Tickets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3367087"/>
            <a:ext cx="45243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Atención estructurada según el nivel de prioridad asignado.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3714750"/>
            <a:ext cx="4524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Notificación continua del estado del caso hasta la resolución exitosa.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4276725"/>
            <a:ext cx="4524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Reducción de tiempos muertos en piso de venta y canales de atención.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9900" y="4838700"/>
            <a:ext cx="45243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Plataforma oficial: www.administrativo.innovatek.com.pa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787" y="2513707"/>
            <a:ext cx="2190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450" y="2513707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Mesa de Ayuda Corporativa &amp; Gestión de Tickets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3629917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4191892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4753867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3386137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3733800"/>
            <a:ext cx="1143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4295775"/>
            <a:ext cx="1143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4857750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09787"/>
            <a:ext cx="5381625" cy="3457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814637"/>
            <a:ext cx="4829175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462337"/>
            <a:ext cx="4829175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110037"/>
            <a:ext cx="4829175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757737"/>
            <a:ext cx="4829175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312" y="528637"/>
            <a:ext cx="2262187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109787"/>
            <a:ext cx="565070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oppins"/>
              </a:rPr>
              <a:t>Metodología de Evaluación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386012"/>
            <a:ext cx="5070633" cy="285750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EA580C"/>
                </a:solidFill>
                <a:latin typeface="Poppins SemiBold"/>
              </a:rPr>
              <a:t>Áreas y Responsables Evaluados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566987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Identificación de Origen: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Elección del área o campaña a la que pertenece el usuario.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128962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Calificación por Área: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Evaluación directa de la calidad general de atención e infraestructura.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690937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Feedback Cualitativo: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Justificación obligatoria para complementar la nota asignada.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252912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Filtro de Relevancia: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Opción "No Aplica" para interacciones no ejecutadas.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2433637"/>
            <a:ext cx="2381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Encuesta Confidencial a Clientes Internos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586037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148012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709987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271962"/>
            <a:ext cx="114300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77025" y="2986087"/>
            <a:ext cx="14192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Wendy Santimateo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91775" y="2995612"/>
            <a:ext cx="790575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7025" y="3633787"/>
            <a:ext cx="1409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Luisangel Figueroa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25100" y="3643312"/>
            <a:ext cx="85725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77025" y="4281487"/>
            <a:ext cx="914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Raziel Nogal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4125" y="4291012"/>
            <a:ext cx="1038225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77025" y="4929187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Leonardo Sanabria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44125" y="4938712"/>
            <a:ext cx="103822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4721"/>
            <a:ext cx="11049000" cy="1607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00487"/>
            <a:ext cx="3524250" cy="17219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3900487"/>
            <a:ext cx="3524250" cy="17219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3900487"/>
            <a:ext cx="3524250" cy="172194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2530" y="2448966"/>
            <a:ext cx="3721744" cy="819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5887" y="528637"/>
            <a:ext cx="2614612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4919662"/>
            <a:ext cx="29718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Monitoreo, retroalimentación y cumplimiento de estándares del cliente y negocio.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4919662"/>
            <a:ext cx="29718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Diseño, estandarización y documentación comercial y operativa.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2475" y="4919662"/>
            <a:ext cx="29718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Formación de ingreso, desarrollo de habilidades comerciales y acompañamiento.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369046"/>
            <a:ext cx="18430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Inter SemiBold"/>
              </a:rPr>
              <a:t>COORDINADORA DEL ÁREA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540496"/>
            <a:ext cx="711354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oppins"/>
              </a:rPr>
              <a:t>Itzel De Los Ríos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959596"/>
            <a:ext cx="677480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Coordinar con las diferentes áreas el apoyo requerido en ejecución, planificación de actividades y continuidad de asignaciones.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262437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100" y="4262437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2475" y="4262437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4887" y="4395787"/>
            <a:ext cx="14287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47800" y="4205287"/>
            <a:ext cx="129016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Calidad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7800" y="4548187"/>
            <a:ext cx="122872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9637" y="4395787"/>
            <a:ext cx="2381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10175" y="4205287"/>
            <a:ext cx="14201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Procesos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10175" y="4548187"/>
            <a:ext cx="135255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15350" y="4395787"/>
            <a:ext cx="1714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72550" y="4205287"/>
            <a:ext cx="14101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Capacitación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72550" y="4548187"/>
            <a:ext cx="828675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Calidad, Procesos y Capacitación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81225"/>
            <a:ext cx="5381625" cy="331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237" y="528637"/>
            <a:ext cx="2862262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81225"/>
            <a:ext cx="5650706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6A34A"/>
                </a:solidFill>
                <a:latin typeface="Poppins"/>
              </a:rPr>
              <a:t>Funciones Principales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28850"/>
            <a:ext cx="20955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268605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Monitoreo de Calidad: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Supervisión de ventas en canal Door-to-Door (D2D) y Call Center.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248025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Calibraciones Oportunas: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Alineación continua de criterios de evaluación con operaciones.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1000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Gestión de Riesgos: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Identificación temprana de desviaciones y oportunidades de mejora.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371975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Análisis de Tendencias: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Insumos clave basados en datos para la toma de decisiones.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93395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Cumplimiento de Políticas: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Garantía de adherencia a reglas del cliente y de la empresa.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6312" y="2862262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94395" y="3719512"/>
            <a:ext cx="467058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5803D"/>
                </a:solidFill>
                <a:latin typeface="Poppins SemiBold"/>
              </a:rPr>
              <a:t>Garantía de Excelencia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4129087"/>
            <a:ext cx="4448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166534"/>
                </a:solidFill>
                <a:latin typeface="Inter"/>
              </a:rPr>
              <a:t>Aseguramos que cada interacción cumpla con los estándares de calidad exigidos, optimizando la tasa de conversión y reduciendo reclamos.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Gestión del Área de Calidad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05100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67075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29050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91025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53000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7762" y="3052762"/>
            <a:ext cx="3238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81225"/>
            <a:ext cx="5381625" cy="331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512" y="528637"/>
            <a:ext cx="2947987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81225"/>
            <a:ext cx="5650706" cy="314325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A580C"/>
                </a:solidFill>
                <a:latin typeface="Poppins"/>
              </a:rPr>
              <a:t>Funciones Principales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28850"/>
            <a:ext cx="238125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268605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Diseño y Actualización: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Documentación constante de políticas y procedimientos.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248025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Estandarización: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Homologación de metodologías comerciales y de gestión en piso.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1000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Administración Documental: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Gestión del repositorio ADN, Innova Tips y Plan Comercial.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371975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Mejora Continua: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Implementación e impulso de iniciativas de optimización.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93395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Seguimiento a Controles: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Verificación del cumplimiento efectivo de reglas operativas.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6312" y="2976562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94395" y="3833812"/>
            <a:ext cx="467058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C2410C"/>
                </a:solidFill>
                <a:latin typeface="Poppins SemiBold"/>
              </a:rPr>
              <a:t>Eficiencia y Claridad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4243387"/>
            <a:ext cx="4448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9A3412"/>
                </a:solidFill>
                <a:latin typeface="Inter"/>
              </a:rPr>
              <a:t>Construimos bases operativas sólidas para que cada colaborador conozca su rol y ejecute con la máxima precisión.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Gestión del Área de Procesos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05100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67075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29050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91025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53000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7762" y="3167062"/>
            <a:ext cx="3238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81225"/>
            <a:ext cx="5381625" cy="331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887" y="528637"/>
            <a:ext cx="2233612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81225"/>
            <a:ext cx="5650706" cy="31432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Poppins"/>
              </a:rPr>
              <a:t>Funciones Principales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28850"/>
            <a:ext cx="26670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268605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Formación Inicial y Refuerzo: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Capacitación para nuevo ingreso y talleres de actualización.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248025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Habilidades Comerciales: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Desarrollo de competencias en producto, oferta y técnicas de venta.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1000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Acompañamiento en Campo: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Coaching activo directamente en terreno y piso de venta.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371975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Evaluación de Efectividad: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Medición cuantitativa del aprendizaje e impacto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93395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Aumento de Productividad: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Fortalecimiento continuo para alcanzar objetivos comerciales.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6312" y="2976562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94395" y="3833812"/>
            <a:ext cx="467058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730A3"/>
                </a:solidFill>
                <a:latin typeface="Poppins SemiBold"/>
              </a:rPr>
              <a:t>Impulso del Talento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4243387"/>
            <a:ext cx="4448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312E81"/>
                </a:solidFill>
                <a:latin typeface="Inter"/>
              </a:rPr>
              <a:t>Preparamos a nuestros equipos para enfrentar los retos del mercado con conocimiento, confianza y alto rendimiento.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Gestión del Área de Capacitación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05100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67075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29050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91025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53000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6812" y="3167062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86300"/>
            <a:ext cx="11049000" cy="5485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42269"/>
            <a:ext cx="2619375" cy="18154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442269"/>
            <a:ext cx="2619375" cy="18154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442269"/>
            <a:ext cx="2619375" cy="181540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2442269"/>
            <a:ext cx="2619375" cy="181540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475" y="528637"/>
            <a:ext cx="17240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8387" y="4838700"/>
            <a:ext cx="75152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0F172A"/>
                </a:solidFill>
                <a:latin typeface="Inter SemiBold"/>
              </a:rPr>
              <a:t>"Formamos, medimos y mejoramos para transformar cada interacción en una experiencia excepcional."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587" y="2689919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035" y="3289994"/>
            <a:ext cx="243030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Poppins SemiBold"/>
              </a:rPr>
              <a:t>Equipos Preparados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613844"/>
            <a:ext cx="231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Personal motivado, capacitado y alineado con los objetivos del negocio.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462" y="2689919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5910" y="3289994"/>
            <a:ext cx="243030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Poppins SemiBold"/>
              </a:rPr>
              <a:t>Procesos Eficientes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3775" y="3613844"/>
            <a:ext cx="231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Flujos estandarizados que reducen fricciones e incrementan la velocidad.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2337" y="2689919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5785" y="3289994"/>
            <a:ext cx="243030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Poppins SemiBold"/>
              </a:rPr>
              <a:t>Gestiones de Calidad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3650" y="3613844"/>
            <a:ext cx="231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Operación bajo estricto cumplimiento normativo y satisfacción garantizada.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2212" y="2689919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95660" y="3289994"/>
            <a:ext cx="243030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Poppins SemiBold"/>
              </a:rPr>
              <a:t>Mejores Resultados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525" y="3613844"/>
            <a:ext cx="231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Incremento sostenido en ventas y clientes altamente satisfechos.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4865340"/>
            <a:ext cx="1714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4865340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2125" y="2823269"/>
            <a:ext cx="23812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95812" y="2823269"/>
            <a:ext cx="1905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5687" y="2823269"/>
            <a:ext cx="19050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15562" y="2823269"/>
            <a:ext cx="19050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Nuestro Impacto Estratégico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8629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699" y="3098275"/>
            <a:ext cx="2619375" cy="32834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9" y="3098274"/>
            <a:ext cx="2619375" cy="3283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212" y="1100762"/>
            <a:ext cx="2619375" cy="16984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3850" y="3098275"/>
            <a:ext cx="2619375" cy="328347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5950" y="528637"/>
            <a:ext cx="21145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3376" y="3416096"/>
            <a:ext cx="233029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0F172A"/>
                </a:solidFill>
                <a:latin typeface="Poppins SemiBold"/>
              </a:rPr>
              <a:t>Raziel Nogal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3376" y="3730421"/>
            <a:ext cx="18002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4768" y="3330371"/>
            <a:ext cx="233029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0F172A"/>
                </a:solidFill>
                <a:latin typeface="Poppins SemiBold"/>
              </a:rPr>
              <a:t>Leonardo Sanabria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4768" y="3644696"/>
            <a:ext cx="19240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48237" y="1360586"/>
            <a:ext cx="233029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oppins SemiBold"/>
              </a:rPr>
              <a:t>Ari Ortiz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8237" y="1674911"/>
            <a:ext cx="20955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65458" y="3473246"/>
            <a:ext cx="233029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0F172A"/>
                </a:solidFill>
                <a:latin typeface="Poppins SemiBold"/>
              </a:rPr>
              <a:t>Luisangel</a:t>
            </a:r>
            <a:r>
              <a:rPr sz="1350" b="0" i="0" u="none" dirty="0">
                <a:solidFill>
                  <a:srgbClr val="0F172A"/>
                </a:solidFill>
                <a:latin typeface="Poppins SemiBold"/>
              </a:rPr>
              <a:t> Figueroa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5458" y="3787571"/>
            <a:ext cx="19431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6251" y="4101896"/>
            <a:ext cx="2076450" cy="192899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s-ES" sz="1200" b="0" i="0" u="none" dirty="0">
                <a:solidFill>
                  <a:srgbClr val="475569"/>
                </a:solidFill>
                <a:latin typeface="Inter"/>
              </a:rPr>
              <a:t>Reporte de Sinergia, </a:t>
            </a:r>
            <a:r>
              <a:rPr lang="es-ES" sz="1200" b="0" i="0" u="none" dirty="0" err="1">
                <a:solidFill>
                  <a:srgbClr val="475569"/>
                </a:solidFill>
                <a:latin typeface="Inter"/>
              </a:rPr>
              <a:t>PretoPos</a:t>
            </a:r>
            <a:r>
              <a:rPr lang="es-ES" sz="120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lang="es-ES" sz="1200" b="0" i="0" u="none" dirty="0" err="1">
                <a:solidFill>
                  <a:srgbClr val="475569"/>
                </a:solidFill>
                <a:latin typeface="Inter"/>
              </a:rPr>
              <a:t>Renovacion</a:t>
            </a:r>
            <a:r>
              <a:rPr lang="es-ES" sz="1200" b="0" i="0" u="none" dirty="0">
                <a:solidFill>
                  <a:srgbClr val="475569"/>
                </a:solidFill>
                <a:latin typeface="Inter"/>
              </a:rPr>
              <a:t> (Diario)</a:t>
            </a:r>
          </a:p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s-ES" sz="1200" b="0" i="0" u="none" dirty="0">
                <a:solidFill>
                  <a:srgbClr val="475569"/>
                </a:solidFill>
                <a:latin typeface="Inter"/>
              </a:rPr>
              <a:t>Corte de cada tres horas de </a:t>
            </a:r>
            <a:r>
              <a:rPr lang="es-ES" sz="1200" b="0" i="0" u="none" dirty="0" err="1">
                <a:solidFill>
                  <a:srgbClr val="475569"/>
                </a:solidFill>
                <a:latin typeface="Inter"/>
              </a:rPr>
              <a:t>ventras</a:t>
            </a:r>
            <a:r>
              <a:rPr lang="es-ES" sz="1200" b="0" i="0" u="none" dirty="0">
                <a:solidFill>
                  <a:srgbClr val="475569"/>
                </a:solidFill>
                <a:latin typeface="Inter"/>
              </a:rPr>
              <a:t> realizadas (diario cada 3 horas)</a:t>
            </a:r>
          </a:p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s-ES" sz="1200" b="0" i="0" u="none" dirty="0">
                <a:solidFill>
                  <a:srgbClr val="475569"/>
                </a:solidFill>
                <a:latin typeface="Inter"/>
              </a:rPr>
              <a:t>Rankin por agentes (lunes </a:t>
            </a:r>
            <a:r>
              <a:rPr lang="es-ES" sz="1200" b="0" i="0" u="none" dirty="0" err="1">
                <a:solidFill>
                  <a:srgbClr val="475569"/>
                </a:solidFill>
                <a:latin typeface="Inter"/>
              </a:rPr>
              <a:t>miercoles</a:t>
            </a:r>
            <a:r>
              <a:rPr lang="es-ES" sz="1200" b="0" i="0" u="none" dirty="0">
                <a:solidFill>
                  <a:srgbClr val="475569"/>
                </a:solidFill>
                <a:latin typeface="Inter"/>
              </a:rPr>
              <a:t> y viernes )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37643" y="4016171"/>
            <a:ext cx="2076450" cy="2416302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GTR</a:t>
            </a:r>
          </a:p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Reporte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Cobros</a:t>
            </a:r>
            <a:endParaRPr lang="en-US" sz="1200" b="0" i="0" u="none" dirty="0">
              <a:solidFill>
                <a:srgbClr val="475569"/>
              </a:solidFill>
              <a:latin typeface="Inter"/>
            </a:endParaRPr>
          </a:p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Soho-</a:t>
            </a: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Mensual</a:t>
            </a:r>
            <a:endParaRPr lang="en-US" sz="1200" b="0" i="0" u="none" dirty="0">
              <a:solidFill>
                <a:srgbClr val="475569"/>
              </a:solidFill>
              <a:latin typeface="Inter"/>
            </a:endParaRPr>
          </a:p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Promesas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De Pago</a:t>
            </a:r>
          </a:p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Reporte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Cobros</a:t>
            </a:r>
            <a:endParaRPr lang="en-US" sz="1200" b="0" i="0" u="none" dirty="0">
              <a:solidFill>
                <a:srgbClr val="475569"/>
              </a:solidFill>
              <a:latin typeface="Inter"/>
            </a:endParaRPr>
          </a:p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Cierre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De Ventas Dataphone</a:t>
            </a:r>
          </a:p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Balance Dia Anterior </a:t>
            </a: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Asesores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Fuera</a:t>
            </a:r>
            <a:endParaRPr lang="en-US" sz="1200" b="0" i="0" u="none" dirty="0">
              <a:solidFill>
                <a:srgbClr val="475569"/>
              </a:solidFill>
              <a:latin typeface="Inter"/>
            </a:endParaRPr>
          </a:p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Ranking Dia </a:t>
            </a: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Previo</a:t>
            </a:r>
            <a:endParaRPr lang="en-US" sz="1200" b="0" i="0" u="none" dirty="0">
              <a:solidFill>
                <a:srgbClr val="475569"/>
              </a:solidFill>
              <a:latin typeface="Inter"/>
            </a:endParaRPr>
          </a:p>
          <a:p>
            <a:pPr marL="171450" indent="-171450" algn="l">
              <a:lnSpc>
                <a:spcPts val="1920"/>
              </a:lnSpc>
              <a:buFont typeface="Arial" panose="020B0604020202020204" pitchFamily="34" charset="0"/>
              <a:buChar char="•"/>
            </a:pP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Reporte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Horario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Conexion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91112" y="2046386"/>
            <a:ext cx="2076450" cy="95436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Automatizaci</a:t>
            </a:r>
            <a:r>
              <a:rPr lang="en-US" sz="1200" dirty="0" err="1"/>
              <a:t>ó</a:t>
            </a: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n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reportes</a:t>
            </a:r>
            <a:endParaRPr lang="en-US" sz="1200" b="0" i="0" u="none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r>
              <a:rPr lang="en-US" sz="1200" dirty="0" err="1"/>
              <a:t>Alineación</a:t>
            </a:r>
            <a:r>
              <a:rPr lang="en-US" sz="1200" dirty="0"/>
              <a:t> </a:t>
            </a:r>
            <a:r>
              <a:rPr lang="en-US" sz="1200" dirty="0" err="1"/>
              <a:t>tecnológica</a:t>
            </a:r>
            <a:endParaRPr lang="en-US" sz="1200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r>
              <a:rPr lang="en-US" sz="1200" b="0" i="0" u="none" dirty="0" err="1">
                <a:solidFill>
                  <a:srgbClr val="475569"/>
                </a:solidFill>
                <a:latin typeface="Inter"/>
              </a:rPr>
              <a:t>Propuestas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 err="1"/>
              <a:t>tecnológicas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 </a:t>
            </a:r>
            <a:br>
              <a:rPr lang="en-US" sz="1200" b="0" i="0" u="none">
                <a:solidFill>
                  <a:srgbClr val="475569"/>
                </a:solidFill>
                <a:latin typeface="Inter"/>
              </a:rPr>
            </a:br>
            <a:r>
              <a:rPr lang="en-US" sz="1200" b="0" i="0" u="none">
                <a:solidFill>
                  <a:srgbClr val="475569"/>
                </a:solidFill>
                <a:latin typeface="Inter"/>
              </a:rPr>
              <a:t>Dashboards</a:t>
            </a:r>
            <a:endParaRPr sz="12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08333" y="4159046"/>
            <a:ext cx="207645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Control de ancho de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banda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filtro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MAC/IP.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8333" y="4703757"/>
            <a:ext cx="207645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Soporte de contingencias y conectividad.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8333" y="5248468"/>
            <a:ext cx="2076450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Entorno y servidores para alojamiento de Bots.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GTR &amp; IT Support: Distribución de Roles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6116"/>
            <a:ext cx="2619375" cy="16534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2506116"/>
            <a:ext cx="2619375" cy="16534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506116"/>
            <a:ext cx="2619375" cy="1653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2506116"/>
            <a:ext cx="2619375" cy="16534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725" y="528637"/>
            <a:ext cx="20097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635847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 Medium"/>
              </a:rPr>
              <a:t>¡Muchas Gracias!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957762"/>
            <a:ext cx="1104900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Gerencia de Operaciones — Innovatek | Next Phone | Ventas &amp; Gestiones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787" y="2753766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6048" y="3201441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oppins"/>
              </a:rPr>
              <a:t>Enfocados en Resultados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515766"/>
            <a:ext cx="21240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Orientación clara hacia metas comerciales y cumplimiento.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712" y="2753766"/>
            <a:ext cx="2667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75923" y="3201441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oppins"/>
              </a:rPr>
              <a:t>Datos Confiables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3515766"/>
            <a:ext cx="21240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Garantizamos información precisa, transparente y oportuna.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0437" y="2753766"/>
            <a:ext cx="3810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5798" y="3201441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oppins"/>
              </a:rPr>
              <a:t>Procesos Eficientes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3515766"/>
            <a:ext cx="21240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Optimizamos y automatizamos tareas clave para escalar.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0312" y="2753766"/>
            <a:ext cx="3810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95673" y="3201441"/>
            <a:ext cx="223027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oppins"/>
              </a:rPr>
              <a:t>Soporte Continuo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775" y="3515766"/>
            <a:ext cx="21240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Infraestructura técnica sólida y acompañamiento permanente.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76250"/>
            <a:ext cx="110490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latin typeface="Inter"/>
              </a:rPr>
              <a:t>Enfoque Operativo Unificado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988</Words>
  <Application>Microsoft Office PowerPoint</Application>
  <PresentationFormat>Widescreen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 Ernesto Ortiz Castellanos</cp:lastModifiedBy>
  <cp:revision>3</cp:revision>
  <dcterms:created xsi:type="dcterms:W3CDTF">2013-01-27T09:14:16Z</dcterms:created>
  <dcterms:modified xsi:type="dcterms:W3CDTF">2026-08-14T04:09:15Z</dcterms:modified>
  <cp:category/>
</cp:coreProperties>
</file>