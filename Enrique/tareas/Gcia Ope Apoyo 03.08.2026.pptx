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2"/>
    <p:sldId id="256" r:id="rId3"/>
    <p:sldId id="292" r:id="rId4"/>
    <p:sldId id="258" r:id="rId5"/>
    <p:sldId id="257" r:id="rId6"/>
    <p:sldId id="121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20DBFB-B27A-4152-B93B-E054476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0538E1-A5D3-42FF-8CD4-E096C8ACEFDF}" type="datetime1">
              <a:rPr lang="es-ES" noProof="0" smtClean="0"/>
              <a:t>05/08/2026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2609EE-8677-453E-B000-7C9D37C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85346EE-7757-43D9-8F90-C5A66E3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0128637-293C-4F87-8D53-0BE4379C8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37" y="310287"/>
            <a:ext cx="5238313" cy="853352"/>
          </a:xfrm>
        </p:spPr>
        <p:txBody>
          <a:bodyPr rtlCol="0">
            <a:normAutofit/>
          </a:bodyPr>
          <a:lstStyle>
            <a:lvl1pPr>
              <a:defRPr sz="3600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ABCAE7BC-9D1D-42BA-A132-117B58540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337" y="981076"/>
            <a:ext cx="3581400" cy="365126"/>
          </a:xfrm>
        </p:spPr>
        <p:txBody>
          <a:bodyPr rtlCol="0">
            <a:norm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6001FCC3-C0B6-411C-97C8-DCB57E6D3D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1470027"/>
            <a:ext cx="11487150" cy="4724400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816657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9ED6E-4A2E-866C-6837-43A8FE657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5927"/>
            <a:ext cx="9144000" cy="1414035"/>
          </a:xfr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PRESENTACIÓN EJECUTIVA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189FF9-CEBC-AD2D-B926-DD4899FD5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0394"/>
            <a:ext cx="9144000" cy="641189"/>
          </a:xfr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/>
              <a:t>GERENCIA DE OPERACIONES</a:t>
            </a:r>
          </a:p>
        </p:txBody>
      </p:sp>
    </p:spTree>
    <p:extLst>
      <p:ext uri="{BB962C8B-B14F-4D97-AF65-F5344CB8AC3E}">
        <p14:creationId xmlns:p14="http://schemas.microsoft.com/office/powerpoint/2010/main" val="12131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2171" y="1689973"/>
            <a:ext cx="4114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32323"/>
                </a:solidFill>
              </a:defRPr>
            </a:pPr>
            <a:r>
              <a:rPr lang="es-PA" dirty="0"/>
              <a:t>Gerencia</a:t>
            </a:r>
            <a:br>
              <a:rPr dirty="0"/>
            </a:br>
            <a:r>
              <a:rPr lang="es-PA" dirty="0"/>
              <a:t>de Operaciones</a:t>
            </a:r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729478" y="2748446"/>
            <a:ext cx="2125231" cy="1976039"/>
          </a:xfrm>
          <a:prstGeom prst="ellipse">
            <a:avLst/>
          </a:prstGeom>
          <a:noFill/>
          <a:ln w="254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19750" y="1234440"/>
            <a:ext cx="1097280" cy="1097280"/>
          </a:xfrm>
          <a:prstGeom prst="ellipse">
            <a:avLst/>
          </a:prstGeom>
          <a:noFill/>
          <a:ln w="50800">
            <a:solidFill>
              <a:srgbClr val="F06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729478" y="1344168"/>
            <a:ext cx="877824" cy="877824"/>
          </a:xfrm>
          <a:prstGeom prst="ellipse">
            <a:avLst/>
          </a:prstGeom>
          <a:noFill/>
          <a:ln w="25400">
            <a:solidFill>
              <a:srgbClr val="F06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75309" y="763421"/>
            <a:ext cx="29260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lang="es-PA" dirty="0"/>
              <a:t>Procesos y Procedimientos</a:t>
            </a:r>
            <a:endParaRPr dirty="0"/>
          </a:p>
          <a:p>
            <a:pPr algn="l">
              <a:defRPr sz="1100">
                <a:solidFill>
                  <a:srgbClr val="646464"/>
                </a:solidFill>
              </a:defRPr>
            </a:pPr>
            <a:r>
              <a:rPr lang="es-PA" dirty="0"/>
              <a:t>Entender y ayudar a guiar</a:t>
            </a:r>
            <a:r>
              <a:rPr dirty="0"/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545030" y="1545629"/>
            <a:ext cx="1097280" cy="1097280"/>
          </a:xfrm>
          <a:prstGeom prst="ellipse">
            <a:avLst/>
          </a:prstGeom>
          <a:noFill/>
          <a:ln w="50800">
            <a:solidFill>
              <a:srgbClr val="EB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54758" y="1655357"/>
            <a:ext cx="877824" cy="877824"/>
          </a:xfrm>
          <a:prstGeom prst="ellipse">
            <a:avLst/>
          </a:prstGeom>
          <a:noFill/>
          <a:ln w="25400">
            <a:solidFill>
              <a:srgbClr val="EBA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3750" y="1637069"/>
            <a:ext cx="29260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lang="es-PA" dirty="0"/>
              <a:t>Capacitación</a:t>
            </a:r>
            <a:endParaRPr dirty="0"/>
          </a:p>
          <a:p>
            <a:pPr algn="l">
              <a:defRPr sz="1100">
                <a:solidFill>
                  <a:srgbClr val="646464"/>
                </a:solidFill>
              </a:defRPr>
            </a:pPr>
            <a:r>
              <a:rPr lang="es-PA" dirty="0"/>
              <a:t>Apoyar en estandarizar</a:t>
            </a:r>
            <a:r>
              <a:rPr dirty="0"/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8287612" y="2973961"/>
            <a:ext cx="1097280" cy="1097280"/>
          </a:xfrm>
          <a:prstGeom prst="ellipse">
            <a:avLst/>
          </a:prstGeom>
          <a:noFill/>
          <a:ln w="50800">
            <a:solidFill>
              <a:srgbClr val="8A2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97340" y="3079732"/>
            <a:ext cx="877824" cy="877824"/>
          </a:xfrm>
          <a:prstGeom prst="ellipse">
            <a:avLst/>
          </a:prstGeom>
          <a:noFill/>
          <a:ln w="25400">
            <a:solidFill>
              <a:srgbClr val="8A2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6332" y="3061444"/>
            <a:ext cx="20679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lang="es-PA" dirty="0"/>
              <a:t>Calidad</a:t>
            </a:r>
            <a:endParaRPr dirty="0"/>
          </a:p>
          <a:p>
            <a:pPr algn="l">
              <a:defRPr sz="1100">
                <a:solidFill>
                  <a:srgbClr val="646464"/>
                </a:solidFill>
              </a:defRPr>
            </a:pPr>
            <a:r>
              <a:rPr lang="es-PA" dirty="0"/>
              <a:t>Auditar, feedback y mejoras</a:t>
            </a:r>
            <a:r>
              <a:rPr dirty="0"/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830412" y="4614757"/>
            <a:ext cx="1097280" cy="1097280"/>
          </a:xfrm>
          <a:prstGeom prst="ellipse">
            <a:avLst/>
          </a:prstGeom>
          <a:noFill/>
          <a:ln w="508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40140" y="4724485"/>
            <a:ext cx="877824" cy="877824"/>
          </a:xfrm>
          <a:prstGeom prst="ellipse">
            <a:avLst/>
          </a:prstGeom>
          <a:noFill/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19132" y="4706197"/>
            <a:ext cx="23727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rPr lang="es-PA" dirty="0"/>
              <a:t>Análisis</a:t>
            </a:r>
            <a:endParaRPr dirty="0"/>
          </a:p>
          <a:p>
            <a:pPr algn="l">
              <a:defRPr sz="1100">
                <a:solidFill>
                  <a:srgbClr val="646464"/>
                </a:solidFill>
              </a:defRPr>
            </a:pPr>
            <a:r>
              <a:rPr lang="es-PA" dirty="0"/>
              <a:t>Entregar info analizada para accionar</a:t>
            </a:r>
            <a:endParaRPr dirty="0"/>
          </a:p>
        </p:txBody>
      </p:sp>
      <p:sp>
        <p:nvSpPr>
          <p:cNvPr id="21" name="Oval 20"/>
          <p:cNvSpPr/>
          <p:nvPr/>
        </p:nvSpPr>
        <p:spPr>
          <a:xfrm>
            <a:off x="6191718" y="5252155"/>
            <a:ext cx="1097280" cy="1097280"/>
          </a:xfrm>
          <a:prstGeom prst="ellipse">
            <a:avLst/>
          </a:prstGeom>
          <a:noFill/>
          <a:ln w="50800">
            <a:solidFill>
              <a:srgbClr val="F26B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1446" y="5361883"/>
            <a:ext cx="877824" cy="877824"/>
          </a:xfrm>
          <a:prstGeom prst="ellipse">
            <a:avLst/>
          </a:prstGeom>
          <a:noFill/>
          <a:ln w="25400">
            <a:solidFill>
              <a:srgbClr val="F26B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7078" y="5343595"/>
            <a:ext cx="2743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2828"/>
                </a:solidFill>
              </a:defRPr>
            </a:pPr>
            <a:r>
              <a:rPr lang="es-PA" dirty="0"/>
              <a:t>GTR</a:t>
            </a:r>
            <a:endParaRPr dirty="0"/>
          </a:p>
          <a:p>
            <a:pPr algn="r">
              <a:defRPr sz="1100">
                <a:solidFill>
                  <a:srgbClr val="646464"/>
                </a:solidFill>
              </a:defRPr>
            </a:pPr>
            <a:r>
              <a:rPr lang="es-PA" dirty="0"/>
              <a:t>Oportuna Gestión en tiempo Real</a:t>
            </a:r>
            <a:r>
              <a:rPr dirty="0"/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4128036" y="4169353"/>
            <a:ext cx="1097280" cy="1097280"/>
          </a:xfrm>
          <a:prstGeom prst="ellipse">
            <a:avLst/>
          </a:prstGeom>
          <a:noFill/>
          <a:ln w="50800">
            <a:solidFill>
              <a:srgbClr val="8CC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37764" y="4279081"/>
            <a:ext cx="877824" cy="877824"/>
          </a:xfrm>
          <a:prstGeom prst="ellipse">
            <a:avLst/>
          </a:prstGeom>
          <a:noFill/>
          <a:ln w="25400">
            <a:solidFill>
              <a:srgbClr val="8CC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2400" y="286367"/>
            <a:ext cx="2743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rPr lang="es-PA" dirty="0"/>
              <a:t>Inducción y culturización</a:t>
            </a:r>
            <a:endParaRPr dirty="0"/>
          </a:p>
          <a:p>
            <a:pPr>
              <a:defRPr sz="1100">
                <a:solidFill>
                  <a:srgbClr val="646464"/>
                </a:solidFill>
              </a:defRPr>
            </a:pPr>
            <a:endParaRPr dirty="0"/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0380DFCE-3AC7-4239-9703-2F338A19E092}"/>
              </a:ext>
            </a:extLst>
          </p:cNvPr>
          <p:cNvSpPr txBox="1"/>
          <p:nvPr/>
        </p:nvSpPr>
        <p:spPr>
          <a:xfrm>
            <a:off x="2166453" y="3609773"/>
            <a:ext cx="2743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2828"/>
                </a:solidFill>
              </a:defRPr>
            </a:pPr>
            <a:r>
              <a:rPr lang="es-PA" dirty="0"/>
              <a:t>IT</a:t>
            </a:r>
            <a:endParaRPr dirty="0"/>
          </a:p>
          <a:p>
            <a:pPr algn="r">
              <a:defRPr sz="1100">
                <a:solidFill>
                  <a:srgbClr val="646464"/>
                </a:solidFill>
              </a:defRPr>
            </a:pPr>
            <a:r>
              <a:rPr lang="es-PA" dirty="0"/>
              <a:t>Apoyo, mantenimiento y prevención</a:t>
            </a:r>
            <a:r>
              <a:rPr dirty="0"/>
              <a:t>.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D45BFB4E-BC9F-42D3-B297-6675DC33DA59}"/>
              </a:ext>
            </a:extLst>
          </p:cNvPr>
          <p:cNvSpPr txBox="1"/>
          <p:nvPr/>
        </p:nvSpPr>
        <p:spPr>
          <a:xfrm>
            <a:off x="5729477" y="3357571"/>
            <a:ext cx="210093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lang="es-PA" dirty="0"/>
              <a:t>Operaciones Comerciales</a:t>
            </a:r>
            <a:endParaRPr dirty="0"/>
          </a:p>
          <a:p>
            <a:pPr algn="r">
              <a:defRPr sz="1100">
                <a:solidFill>
                  <a:srgbClr val="646464"/>
                </a:solidFill>
              </a:defRPr>
            </a:pPr>
            <a:endParaRPr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D8A8C542-60F9-4BB7-A662-372476B58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3717150"/>
            <a:ext cx="644272" cy="9298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7D8BDE3-BAEE-43E1-8BFC-86DDF9EAE3F7}"/>
              </a:ext>
            </a:extLst>
          </p:cNvPr>
          <p:cNvSpPr txBox="1"/>
          <p:nvPr/>
        </p:nvSpPr>
        <p:spPr>
          <a:xfrm>
            <a:off x="4038600" y="367552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dirty="0"/>
              <a:t>Apoyo prioritario IT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E1DF448-14C6-49E1-8B0D-EDD091EE6C8E}"/>
              </a:ext>
            </a:extLst>
          </p:cNvPr>
          <p:cNvSpPr txBox="1"/>
          <p:nvPr/>
        </p:nvSpPr>
        <p:spPr>
          <a:xfrm>
            <a:off x="930649" y="865654"/>
            <a:ext cx="782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/>
              <a:t>Medir: lo que no se mide, no se controla, ni se mejora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EE5748-8502-48EB-85B9-735FAA24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95" y="1733088"/>
            <a:ext cx="9798655" cy="494176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4BD6C8A-C005-410B-93DD-9A33B02598B0}"/>
              </a:ext>
            </a:extLst>
          </p:cNvPr>
          <p:cNvSpPr txBox="1"/>
          <p:nvPr/>
        </p:nvSpPr>
        <p:spPr>
          <a:xfrm>
            <a:off x="4295775" y="1363756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dirty="0"/>
              <a:t>Retomar tickets</a:t>
            </a:r>
          </a:p>
        </p:txBody>
      </p:sp>
    </p:spTree>
    <p:extLst>
      <p:ext uri="{BB962C8B-B14F-4D97-AF65-F5344CB8AC3E}">
        <p14:creationId xmlns:p14="http://schemas.microsoft.com/office/powerpoint/2010/main" val="412028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928BCA-61A8-4F9F-8D0B-0DC89BF35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79" y="1373319"/>
            <a:ext cx="6950042" cy="4282811"/>
          </a:xfrm>
          <a:prstGeom prst="rect">
            <a:avLst/>
          </a:prstGeom>
        </p:spPr>
      </p:pic>
      <p:sp>
        <p:nvSpPr>
          <p:cNvPr id="4" name="TextBox 26">
            <a:extLst>
              <a:ext uri="{FF2B5EF4-FFF2-40B4-BE49-F238E27FC236}">
                <a16:creationId xmlns:a16="http://schemas.microsoft.com/office/drawing/2014/main" id="{4DCD92A1-A6D4-450A-B957-9D3B8B091D79}"/>
              </a:ext>
            </a:extLst>
          </p:cNvPr>
          <p:cNvSpPr txBox="1"/>
          <p:nvPr/>
        </p:nvSpPr>
        <p:spPr>
          <a:xfrm>
            <a:off x="1" y="181592"/>
            <a:ext cx="12096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lang="es-PA" sz="2800" dirty="0"/>
              <a:t>Lanzamiento de una encuesta anónima a las áreas que servimos y apoyamos</a:t>
            </a:r>
          </a:p>
          <a:p>
            <a:pPr algn="ctr">
              <a:defRPr sz="1400" b="1">
                <a:solidFill>
                  <a:srgbClr val="282828"/>
                </a:solidFill>
              </a:defRPr>
            </a:pPr>
            <a:r>
              <a:rPr lang="es-PA" sz="2800" dirty="0"/>
              <a:t>Site Crystal</a:t>
            </a:r>
            <a:endParaRPr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8E0D3B-30FD-4196-987F-BF118605E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55" y="4002287"/>
            <a:ext cx="6134632" cy="27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5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53488C-AA66-8A5F-7F11-AC860A489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1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A8207AE-8D2E-1313-78E1-A7D9CB962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5BAD04-FE32-4D51-B325-6D085884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2717131"/>
            <a:ext cx="1657350" cy="4034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74CD556-796A-4B0D-9B5D-8E0032A2A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2667814"/>
            <a:ext cx="1657350" cy="40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12584</TotalTime>
  <Words>89</Words>
  <Application>Microsoft Office PowerPoint</Application>
  <PresentationFormat>Panorámica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EJECUTIVA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Enrique Garrido</dc:creator>
  <cp:keywords/>
  <dc:description>generated using python-pptx</dc:description>
  <cp:lastModifiedBy>Enrique Garrido</cp:lastModifiedBy>
  <cp:revision>10</cp:revision>
  <dcterms:created xsi:type="dcterms:W3CDTF">2013-01-27T09:14:16Z</dcterms:created>
  <dcterms:modified xsi:type="dcterms:W3CDTF">2026-08-12T13:15:21Z</dcterms:modified>
  <cp:category/>
</cp:coreProperties>
</file>